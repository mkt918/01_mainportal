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7722"/>
                </a:solidFill>
              </a:rPr>
              <a:t>授業ノート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45034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現金を取得した場合（資産の増加）、借方・貸方どちらに記述しますか？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02920" cy="502920"/>
          </a:xfrm>
          <a:prstGeom prst="ellipse">
            <a:avLst/>
          </a:prstGeom>
          <a:solidFill>
            <a:srgbClr val="2B7A2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FF7F"/>
                </a:solidFill>
              </a:rPr>
              <a:t>借方（左側）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0" y="109728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FF7F"/>
                </a:solidFill>
              </a:rPr>
              <a:t>✓ 正解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193852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貸方（右側）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502920" cy="5029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34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779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どちらにも記述しない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帳簿上の「現金」残高と、金庫にある実際の有高が不一致の場合、一時的に処理するために使う勘定科目は？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02920" cy="502920"/>
          </a:xfrm>
          <a:prstGeom prst="ellipse">
            <a:avLst/>
          </a:prstGeom>
          <a:solidFill>
            <a:srgbClr val="3A7BF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雑損益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93852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損益概算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502920" cy="502920"/>
          </a:xfrm>
          <a:prstGeom prst="ellipse">
            <a:avLst/>
          </a:prstGeom>
          <a:solidFill>
            <a:srgbClr val="2B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734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779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FF7F"/>
                </a:solidFill>
              </a:rPr>
              <a:t>現金過不足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277977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FF7F"/>
                </a:solidFill>
              </a:rPr>
              <a:t>✓ 正解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次のうち、簿記上で「現金」として扱う「通貨代用証券」に含まれる組み合わせはどれですか？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02920" cy="502920"/>
          </a:xfrm>
          <a:prstGeom prst="ellipse">
            <a:avLst/>
          </a:prstGeom>
          <a:solidFill>
            <a:srgbClr val="3A7BF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輸入印紙・切手・国債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502920" cy="502920"/>
          </a:xfrm>
          <a:prstGeom prst="ellipse">
            <a:avLst/>
          </a:prstGeom>
          <a:solidFill>
            <a:srgbClr val="2B7A2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93852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FF7F"/>
                </a:solidFill>
              </a:rPr>
              <a:t>他人振出小切手・送金小切手・郵便為替証書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193852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FF7F"/>
                </a:solidFill>
              </a:rPr>
              <a:t>✓ 正解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502920" cy="5029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34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779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約束手形・為替手形・社債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C6E"/>
                </a:solidFill>
              </a:rPr>
              <a:t>本日の内容
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当座預金（とうざよきん）とは？
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72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当座預金とは、預金口座の一つです。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72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みなさんが普段使っている「普通預金」とは違い、</a:t>
            </a:r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小切手（こぎって）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を使って支払いをすることができる銀行口座のことです。企業間の取引では多額の現金を持ち歩くのは危険なため、この「当座預金」がよく使われます。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72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なお、当座預金には利息がつきません（決済用預金）。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72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預金を引き出す時に</a:t>
            </a:r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小切手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を使う点と、</a:t>
            </a:r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利息が付かない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点が特徴的な預金です。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当座預金の仕訳ルール
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72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この当座預金の預け入れや引き出しは、</a:t>
            </a:r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「当座預金」勘定（資産）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で処理します。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仕訳例: 1. 預け入れ（入金）のとき
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66"/>
                </a:solidFill>
              </a:rPr>
              <a:t>**仕訳例**: 現金100円を当座預金口座に預け入れた。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457200"/>
          </a:xfrm>
          <a:prstGeom prst="rect">
            <a:avLst/>
          </a:prstGeom>
          <a:solidFill>
            <a:srgbClr val="F0F4FA"/>
          </a:solidFill>
          <a:ln w="10160">
            <a:solidFill>
              <a:srgbClr val="1A3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(借) **当座預金** 100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79976" y="1280160"/>
            <a:ext cx="109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99"/>
                </a:solidFill>
              </a:rPr>
              <a:t>/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72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(貸) 現金 100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仕訳例: 2. 引き出し（小切手の振り出し）のとき
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66"/>
                </a:solidFill>
              </a:rPr>
              <a:t>**仕訳例**: 買掛金100円を小切手を振り出して支払った。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457200"/>
          </a:xfrm>
          <a:prstGeom prst="rect">
            <a:avLst/>
          </a:prstGeom>
          <a:solidFill>
            <a:srgbClr val="F0F4FA"/>
          </a:solidFill>
          <a:ln w="10160">
            <a:solidFill>
              <a:srgbClr val="1A3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(借) 買掛金 100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79976" y="1280160"/>
            <a:ext cx="109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99"/>
                </a:solidFill>
              </a:rPr>
              <a:t>/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72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(貸) **当座預金** 100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仕訳例: 超重要：直ちに預け入れた場合
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66"/>
                </a:solidFill>
              </a:rPr>
              <a:t>**仕訳例**: 売掛金100円の回収として小切手を受け取り、**ただちに当座預金に預け入れた**。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457200"/>
          </a:xfrm>
          <a:prstGeom prst="rect">
            <a:avLst/>
          </a:prstGeom>
          <a:solidFill>
            <a:srgbClr val="F0F4FA"/>
          </a:solidFill>
          <a:ln w="10160">
            <a:solidFill>
              <a:srgbClr val="1A3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(借) **当座預金** 100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79976" y="1280160"/>
            <a:ext cx="109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99"/>
                </a:solidFill>
              </a:rPr>
              <a:t>/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72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(貸) 売掛金 100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当座借越（とうざかりこし）
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72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当座預金の残高がゼロになっても、銀行とあらかじめ契約（当座借越契約）を結んでおけば、一定額まで銀行が立て替えて支払ってくれます。これを</a:t>
            </a:r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当座借越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といいます。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72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実質的には銀行からの「借金」と同じなので、決算時には「負債」として扱います。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C6E"/>
                </a:solidFill>
              </a:rPr>
              <a:t>資料
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当座預金の口座開設について、正しい説明はどれですか？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02920" cy="502920"/>
          </a:xfrm>
          <a:prstGeom prst="ellipse">
            <a:avLst/>
          </a:prstGeom>
          <a:solidFill>
            <a:srgbClr val="3A7BF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利息はつくが、引き出しに手数料がかかる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502920" cy="502920"/>
          </a:xfrm>
          <a:prstGeom prst="ellipse">
            <a:avLst/>
          </a:prstGeom>
          <a:solidFill>
            <a:srgbClr val="2B7A2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93852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FF7F"/>
                </a:solidFill>
              </a:rPr>
              <a:t>利息はつかないが、小切手を使って決済ができる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193852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FF7F"/>
                </a:solidFill>
              </a:rPr>
              <a:t>✓ 正解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502920" cy="5029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34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779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利息もつき、小切手も振り出せる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商品を仕入れ、代金を「小切手を振り出して」支払った時の貸方科目（資産の減少）は？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02920" cy="502920"/>
          </a:xfrm>
          <a:prstGeom prst="ellipse">
            <a:avLst/>
          </a:prstGeom>
          <a:solidFill>
            <a:srgbClr val="3A7BF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現金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502920" cy="502920"/>
          </a:xfrm>
          <a:prstGeom prst="ellipse">
            <a:avLst/>
          </a:prstGeom>
          <a:solidFill>
            <a:srgbClr val="2B7A2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93852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FF7F"/>
                </a:solidFill>
              </a:rPr>
              <a:t>当座預金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193852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FF7F"/>
                </a:solidFill>
              </a:rPr>
              <a:t>✓ 正解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502920" cy="5029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34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779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支払手形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売掛金の回収として小切手を受け取り、直ちに当座預金口座に預け入れた場合の借方科目は？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02920" cy="502920"/>
          </a:xfrm>
          <a:prstGeom prst="ellipse">
            <a:avLst/>
          </a:prstGeom>
          <a:solidFill>
            <a:srgbClr val="3A7BF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現金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502920" cy="502920"/>
          </a:xfrm>
          <a:prstGeom prst="ellipse">
            <a:avLst/>
          </a:prstGeom>
          <a:solidFill>
            <a:srgbClr val="2B7A2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93852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FF7F"/>
                </a:solidFill>
              </a:rPr>
              <a:t>当座預金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193852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FF7F"/>
                </a:solidFill>
              </a:rPr>
              <a:t>✓ 正解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502920" cy="5029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34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779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受取小切手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722"/>
                </a:solidFill>
              </a:rPr>
              <a:t>本日のまとめ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73152" cy="5029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81381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当座預金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とは、小切手を使って決済できる銀行口座（利息なし）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73152" cy="5029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57400"/>
            <a:ext cx="81381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入金・預け入れ → 借方（左側）に「当座預金」を記入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73152" cy="5029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51760"/>
            <a:ext cx="81381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小切手振り出し → 貸方（右側）に「当座預金」を記入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73152" cy="5029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246120"/>
            <a:ext cx="81381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受け取った小切手をただちに預け入れた → 借方「当座預金」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73152" cy="5029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40480"/>
            <a:ext cx="81381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当座借越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: 残高ゼロでも引き落とし可能（決算時は負債）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　</dc:title>
  <dc:subject>PptxGenJS Presentation</dc:subject>
  <dc:creator>PptxGenJS</dc:creator>
  <cp:lastModifiedBy>PptxGenJS</cp:lastModifiedBy>
  <cp:revision>1</cp:revision>
  <dcterms:created xsi:type="dcterms:W3CDTF">2026-02-18T06:09:38Z</dcterms:created>
  <dcterms:modified xsi:type="dcterms:W3CDTF">2026-02-18T06:09:38Z</dcterms:modified>
</cp:coreProperties>
</file>